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12192000" cy="6858000"/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1000000" y="1500000"/>
            <a:ext cx="10192000" cy="1200000"/>
          </a:xfrm>
        </p:spPr>
        <p:txBody>
          <a:bodyPr/>
          <a:p>
            <a:r>
              <a:rPr sz="4400" b="1">
                <a:solidFill>
                  <a:srgbClr val="F8FAFC"/>
                </a:solidFill>
              </a:rPr>
              <a:t>Enterprise Architecture &amp; Golden VRT CI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1000000" y="3000000"/>
            <a:ext cx="10192000" cy="800000"/>
          </a:xfrm>
        </p:spPr>
        <p:txBody>
          <a:bodyPr/>
          <a:p>
            <a:r>
              <a:rPr sz="2200">
                <a:solidFill>
                  <a:srgbClr val="94A3B8"/>
                </a:solidFill>
              </a:rPr>
              <a:t>Phase 5 High-Fidelity Differential Verification Engine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4" name="Header"/>
          <p:cNvSpPr/>
          <p:nvPr/>
        </p:nvSpPr>
        <p:spPr>
          <a:xfrm>
            <a:off x="800000" y="500000"/>
            <a:ext cx="10000000" cy="600000"/>
          </a:xfrm>
        </p:spPr>
        <p:txBody>
          <a:bodyPr/>
          <a:p>
            <a:r>
              <a:rPr sz="3200" b="1"/>
              <a:t>DrawingML Multi-Shape Topology</a:t>
            </a:r>
          </a:p>
        </p:txBody>
      </p:sp>
      <p:sp>
        <p:nvSpPr>
          <p:cNvPr id="5" name="RectShape"/>
          <p:cNvSpPr/>
          <p:nvPr/>
        </p:nvSpPr>
        <p:spPr>
          <a:xfrm>
            <a:off x="1000000" y="1600000"/>
            <a:ext cx="2800000" cy="2400000"/>
          </a:xfrm>
          <a:prstGeom prst="rect">
            <a:avLst/>
          </a:prstGeom>
          <a:solidFill>
            <a:srgbClr val="3B82F6"/>
          </a:solidFill>
        </p:spPr>
        <p:txBody>
          <a:bodyPr/>
          <a:p>
            <a:r>
              <a:rPr sz="1800">
                <a:solidFill>
                  <a:srgbClr val="FFFFFF"/>
                </a:solidFill>
              </a:rPr>
              <a:t>Compute Node L0</a:t>
            </a:r>
          </a:p>
        </p:txBody>
      </p:sp>
      <p:sp>
        <p:nvSpPr>
          <p:cNvPr id="6" name="EllipseShape"/>
          <p:cNvSpPr/>
          <p:nvPr/>
        </p:nvSpPr>
        <p:spPr>
          <a:xfrm>
            <a:off x="4600000" y="1600000"/>
            <a:ext cx="2800000" cy="2400000"/>
          </a:xfrm>
          <a:prstGeom prst="ellipse">
            <a:avLst/>
          </a:prstGeom>
          <a:solidFill>
            <a:srgbClr val="10B981"/>
          </a:solidFill>
        </p:spPr>
        <p:txBody>
          <a:bodyPr/>
          <a:p>
            <a:r>
              <a:rPr sz="1800">
                <a:solidFill>
                  <a:srgbClr val="FFFFFF"/>
                </a:solidFill>
              </a:rPr>
              <a:t>SIMD Worker L2</a:t>
            </a:r>
          </a:p>
        </p:txBody>
      </p:sp>
      <p:sp>
        <p:nvSpPr>
          <p:cNvPr id="7" name="TriangleShape"/>
          <p:cNvSpPr/>
          <p:nvPr/>
        </p:nvSpPr>
        <p:spPr>
          <a:xfrm>
            <a:off x="8200000" y="1600000"/>
            <a:ext cx="2800000" cy="2400000"/>
          </a:xfrm>
          <a:prstGeom prst="triangle">
            <a:avLst/>
          </a:prstGeom>
          <a:solidFill>
            <a:srgbClr val="F59E0B"/>
          </a:solidFill>
        </p:spPr>
        <p:txBody>
          <a:bodyPr/>
          <a:p>
            <a:r>
              <a:rPr sz="1800">
                <a:solidFill>
                  <a:srgbClr val="FFFFFF"/>
                </a:solidFill>
              </a:rPr>
              <a:t>OPFS VFS L3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8" name="Title"/>
          <p:cNvSpPr/>
          <p:nvPr/>
        </p:nvSpPr>
        <p:spPr>
          <a:xfrm>
            <a:off x="800000" y="500000"/>
            <a:ext cx="10000000" cy="600000"/>
          </a:xfrm>
        </p:spPr>
        <p:txBody>
          <a:bodyPr/>
          <a:p>
            <a:r>
              <a:rPr sz="3200" b="1"/>
              <a:t>Verification Benchmark Results</a:t>
            </a:r>
          </a:p>
        </p:txBody>
      </p:sp>
      <p:graphicFrame>
        <p:nvGraphicFramePr>
          <p:cNvPr id="9" name="Table 1"/>
          <p:cNvGraphicFramePr/>
          <p:nvPr/>
        </p:nvGraphicFramePr>
        <p:xfrm>
          <a:off x="1000000" y="1500000"/>
          <a:ext cx="10000000" cy="3000000"/>
        </p:xfrm>
        <a:graphic>
          <a:graphicData uri="http://schemas.openxmlformats.org/drawingml/2006/table">
            <a:tbl>
              <a:tblGrid>
                <a:gridCol w="3333333"/>
                <a:gridCol w="3333333"/>
                <a:gridCol w="3333334"/>
              </a:tblGrid>
              <a:tr h="600000">
                <a:tc>
                  <a:txBody>
                    <a:bodyPr/>
                    <a:p>
                      <a:r>
                        <a:rPr b="1"/>
                        <a:t>Metric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Baseline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/>
                        <a:t>Phase 5 SOTA</a:t>
                      </a:r>
                    </a:p>
                  </a:txBody>
                </a:tc>
              </a:tr>
              <a:tr h="600000">
                <a:tc>
                  <a:txBody>
                    <a:bodyPr/>
                    <a:p>
                      <a:r>
                        <a:t>SSIM Index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0.82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0.99</a:t>
                      </a:r>
                    </a:p>
                  </a:txBody>
                </a:tc>
              </a:tr>
              <a:tr h="600000">
                <a:tc>
                  <a:txBody>
                    <a:bodyPr/>
                    <a:p>
                      <a:r>
                        <a:t>Peak SNR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29.4 dB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44.8 dB</a:t>
                      </a:r>
                    </a:p>
                  </a:txBody>
                </a:tc>
              </a:tr>
            </a:tbl>
          </a:graphicData>
        </a:graphic>
      </p:graphicFrame>
    </p:spTree>
  </p:cSld>
</p:sld>
</file>